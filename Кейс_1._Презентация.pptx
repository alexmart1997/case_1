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6" r:id="rId4"/>
    <p:sldId id="257" r:id="rId5"/>
    <p:sldId id="258" r:id="rId6"/>
    <p:sldId id="259" r:id="rId7"/>
    <p:sldId id="260" r:id="rId8"/>
    <p:sldId id="261" r:id="rId9"/>
    <p:sldId id="263" r:id="rId10"/>
    <p:sldId id="271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32"/>
  </p:normalViewPr>
  <p:slideViewPr>
    <p:cSldViewPr snapToGrid="0">
      <p:cViewPr varScale="1">
        <p:scale>
          <a:sx n="111" d="100"/>
          <a:sy n="111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CC021-3088-4B0E-A558-6B7DF81B86B4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7CC56-71AF-4EFF-99B7-CA499B5F74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88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7CC56-71AF-4EFF-99B7-CA499B5F74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867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B284B-E4EB-4440-AE63-CBF7A185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70E4E2-DF61-428E-8BD8-20B22259B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889DAC-A3F6-46E2-9D11-9894A1C5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495840-5B58-4136-B3D4-2271BDF8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70D17-CC79-4225-A02D-BC82DFE4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69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5CA44-B786-429F-ACFE-526241E4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68AFD-3648-4EF0-A977-85A63777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E0056E-E8F2-4FAC-96E4-3A429720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AB8B8-58CA-477C-A176-411A4FA1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ABCDB-00B8-4C05-BF21-D5F51E0F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957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752F9-7C8A-408C-BFC5-5F7AF6D0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D8371A-D66F-446D-BA64-ABF872615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7A481F-AE02-414B-8C07-A1AC3E90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6DD1A7-FAC0-47B2-B913-FD567554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285FA4-6607-4515-83FB-E6BEEDFC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51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BAEC3-30B7-4A14-B19E-A3B97A09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863230-11FC-46E7-AF6B-8E334461A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4FAEDB-D1A9-4710-8567-86F0BC63D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D7E9FF-DD5A-4B92-805C-8CA4B40A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BED54E-17C1-43FD-BB3A-0AB6AC62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0FD693-B011-4B34-8654-416066D9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44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0021C-E2F9-4CA3-A2B4-1179CA72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D53D55-BB97-40E7-876D-237BA7D2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3C6819-BA7D-4307-B72C-FC1A26DBD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EA5165-D705-4970-B9BF-BB08F2AFA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7D87BE-1EB9-4F0F-B252-6DDDDEB31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6D2115D-9514-470E-BB87-F90F0979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A20156-8156-4EDB-94A2-B84999DA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AF2260C-BB7B-4F4E-B69A-F53F85EE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92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9DDDD-9EC4-4E2D-9D64-C66B1004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D82DC5-A533-40A7-A786-F217E40F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D316B1-7F06-4172-A8A8-8C0AEDA6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DC9E87-6888-4E53-B1D1-6EEA0CEE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79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616A590-5AE8-47E4-9B09-48F2241E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FAC1F9-B271-47AA-A3C6-A3996813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A05269-0C97-44C7-AB91-FDCCBEEE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18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5E42E-7FF2-4AD3-9258-428F0890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89F2AC-9902-4AA1-89B3-779169528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83FE14-6E22-452B-856A-8DBBC5A2F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F1961F-AA86-4E02-A446-DD077154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DC1BC5-F694-463F-8D3F-12B1AC8D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382BFD-DDD7-44CB-A63F-EE9203CE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58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2F216-2063-4AD4-9EE1-BBE20A477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E4511F-7D8E-47B7-B517-F070F3A04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44827A-8F0E-4BC3-BD81-0FC822969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90092C-3640-4677-A019-7DF6596E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9E745C-3CA3-404B-A18A-990024BC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971AB6-26C1-48EF-BA59-9D49DCF0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74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A1B47-D1EC-4CBC-BB5D-8CBE42F2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3BFE8E-223D-4DBA-8DEE-12DA04540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9D5E18-013C-415F-A958-3F585167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A06C15-4E27-4346-8312-AAA83DC3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AD81C-D7D8-4D35-BE02-42DAC97B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70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0ED171-5CC3-44D9-A54B-20706B5E1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DC8DE5-B5CE-4755-824C-5EDD930ED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1A7BF2-666E-4F95-8732-594FD6F0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F83ADF-DAF6-4EA0-A22B-3ADD7A8F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954833-7EE8-4B39-98D1-6F4BCAD6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99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D3376-CB36-4819-B844-748FD0F6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777A5-75C8-407D-93CF-1F9F77DB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2ABF8D-689D-44B1-AF68-57F9FFC6D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790FA-C54A-40DC-ADD1-864194AADAE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30E79-0B67-44D5-A828-A68491A12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C66604-3D76-46FD-94E7-4A9874AEA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596AD-BBFE-4BFA-948C-792FFA86D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1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36D64-AE3E-432C-B97E-14B1FBE6B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5821"/>
            <a:ext cx="9144000" cy="1555524"/>
          </a:xfrm>
        </p:spPr>
        <p:txBody>
          <a:bodyPr>
            <a:noAutofit/>
          </a:bodyPr>
          <a:lstStyle/>
          <a:p>
            <a:r>
              <a:rPr lang="ru-RU" b="1" dirty="0"/>
              <a:t>Кейс 1. Прогнозирование оттока клиентов банка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78A6D8-7905-4EC1-90B6-E7F0E6D54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241" y="5037299"/>
            <a:ext cx="11539959" cy="1655762"/>
          </a:xfrm>
        </p:spPr>
        <p:txBody>
          <a:bodyPr>
            <a:normAutofit/>
          </a:bodyPr>
          <a:lstStyle/>
          <a:p>
            <a:r>
              <a:rPr lang="ru-RU" sz="2000" i="0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Абиев</a:t>
            </a:r>
            <a:r>
              <a:rPr lang="ru-RU" sz="2000" i="0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 Марик - </a:t>
            </a:r>
            <a:r>
              <a:rPr lang="ru-RU" sz="2000" i="0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Барабошкина</a:t>
            </a:r>
            <a:r>
              <a:rPr lang="ru-RU" sz="2000" i="0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 Кристина</a:t>
            </a:r>
          </a:p>
          <a:p>
            <a:r>
              <a:rPr lang="ru-RU" sz="2000" i="0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Варфоломеев Константин - </a:t>
            </a:r>
            <a:r>
              <a:rPr lang="ru-RU" sz="2000" i="0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Владынцев</a:t>
            </a:r>
            <a:r>
              <a:rPr lang="ru-RU" sz="2000" i="0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 Сергей </a:t>
            </a:r>
          </a:p>
          <a:p>
            <a:r>
              <a:rPr lang="ru-RU" sz="2000" i="0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Мартыненко Алексей - Подгорнов Владислав - Сычёв Иван</a:t>
            </a:r>
          </a:p>
          <a:p>
            <a:endParaRPr lang="ru-RU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6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BA7806-3F6F-4723-9C49-17F5840A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580" y="5387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0FC5B-62FC-4F13-B936-3DA6E5A9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934" y="2362020"/>
            <a:ext cx="10515600" cy="2406749"/>
          </a:xfrm>
        </p:spPr>
        <p:txBody>
          <a:bodyPr numCol="2"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Цели и задачи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Фичи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Выбросы и распределения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 err="1"/>
              <a:t>Мультиколлениарность</a:t>
            </a:r>
            <a:endParaRPr lang="ru-RU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Предикторы и </a:t>
            </a:r>
            <a:r>
              <a:rPr lang="ru-RU" sz="2000" dirty="0" err="1"/>
              <a:t>таргет</a:t>
            </a:r>
            <a:endParaRPr lang="ru-RU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Баланс классов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ru-RU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ru-RU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Итоги </a:t>
            </a:r>
            <a:r>
              <a:rPr lang="en-US" sz="2000" dirty="0"/>
              <a:t>EDA</a:t>
            </a:r>
            <a:endParaRPr lang="ru-RU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Выбор ключевой метрики </a:t>
            </a:r>
            <a:r>
              <a:rPr lang="ru-RU" sz="2000" dirty="0" err="1"/>
              <a:t>бейзлайн</a:t>
            </a:r>
            <a:r>
              <a:rPr lang="ru-RU" sz="2000" dirty="0"/>
              <a:t>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Обучение моделей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Итоговая модель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Важность фичей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Итоговые метрики</a:t>
            </a:r>
            <a:br>
              <a:rPr lang="ru-RU" sz="2000" dirty="0"/>
            </a:br>
            <a:br>
              <a:rPr lang="ru-RU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8493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BEADC-2C3A-4D1E-92B7-03A141F7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EF3C50-1A8B-4022-9871-F1D0671F4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– на основе представленных данных научиться распознавать </a:t>
            </a:r>
            <a:r>
              <a:rPr lang="ru-RU" dirty="0" err="1"/>
              <a:t>отточных</a:t>
            </a:r>
            <a:r>
              <a:rPr lang="ru-RU" dirty="0"/>
              <a:t> клиентов</a:t>
            </a:r>
          </a:p>
          <a:p>
            <a:pPr marL="0" indent="0">
              <a:buNone/>
            </a:pPr>
            <a:r>
              <a:rPr lang="ru-RU" dirty="0"/>
              <a:t>(</a:t>
            </a:r>
            <a:r>
              <a:rPr lang="en-US" dirty="0"/>
              <a:t>https://www.kaggle.com/competitions/playground-series-s4e1/overview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  <a:p>
            <a:r>
              <a:rPr lang="ru-RU" dirty="0"/>
              <a:t>Задачи – построить модель бинарной классификации для прогнозирования </a:t>
            </a:r>
            <a:r>
              <a:rPr lang="ru-RU" dirty="0" err="1"/>
              <a:t>отточных</a:t>
            </a:r>
            <a:r>
              <a:rPr lang="ru-RU" dirty="0"/>
              <a:t> клиентов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78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A2A3E-E829-47A4-946C-1F90EA9E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Фичи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BAA3B6-1ECB-4FA6-A998-3ACF67A3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Датасет</a:t>
            </a:r>
            <a:r>
              <a:rPr lang="ru-RU" dirty="0"/>
              <a:t> состоит из 165034 и 14 столбцов, из которых: </a:t>
            </a:r>
          </a:p>
          <a:p>
            <a:pPr lvl="1"/>
            <a:r>
              <a:rPr lang="ru-RU" dirty="0"/>
              <a:t>1 </a:t>
            </a:r>
            <a:r>
              <a:rPr lang="ru-RU" dirty="0" err="1"/>
              <a:t>таргет</a:t>
            </a:r>
            <a:r>
              <a:rPr lang="ru-RU" dirty="0"/>
              <a:t> (</a:t>
            </a:r>
            <a:r>
              <a:rPr lang="en-US" dirty="0"/>
              <a:t>Exited) </a:t>
            </a:r>
            <a:endParaRPr lang="ru-RU" dirty="0"/>
          </a:p>
          <a:p>
            <a:pPr lvl="1"/>
            <a:r>
              <a:rPr lang="en-US" dirty="0"/>
              <a:t>3 </a:t>
            </a:r>
            <a:r>
              <a:rPr lang="ru-RU" dirty="0"/>
              <a:t>неинформативные фичи (</a:t>
            </a:r>
            <a:r>
              <a:rPr lang="en-US" dirty="0"/>
              <a:t>id, </a:t>
            </a:r>
            <a:r>
              <a:rPr lang="en-US" dirty="0" err="1"/>
              <a:t>CustomerId</a:t>
            </a:r>
            <a:r>
              <a:rPr lang="en-US" dirty="0"/>
              <a:t>, Surname) </a:t>
            </a:r>
            <a:endParaRPr lang="ru-RU" dirty="0"/>
          </a:p>
          <a:p>
            <a:pPr lvl="1"/>
            <a:r>
              <a:rPr lang="en-US" dirty="0"/>
              <a:t>2 </a:t>
            </a:r>
            <a:r>
              <a:rPr lang="ru-RU" dirty="0"/>
              <a:t>бинарные фичи (</a:t>
            </a:r>
            <a:r>
              <a:rPr lang="en-US" dirty="0" err="1"/>
              <a:t>HasCrCard</a:t>
            </a:r>
            <a:r>
              <a:rPr lang="en-US" dirty="0"/>
              <a:t>, </a:t>
            </a:r>
            <a:r>
              <a:rPr lang="en-US" dirty="0" err="1"/>
              <a:t>IsActiveMember</a:t>
            </a:r>
            <a:r>
              <a:rPr lang="en-US" dirty="0"/>
              <a:t>) </a:t>
            </a:r>
            <a:endParaRPr lang="ru-RU" dirty="0"/>
          </a:p>
          <a:p>
            <a:pPr lvl="1"/>
            <a:r>
              <a:rPr lang="en-US" dirty="0"/>
              <a:t>6 </a:t>
            </a:r>
            <a:r>
              <a:rPr lang="ru-RU" dirty="0"/>
              <a:t>числовых фич (</a:t>
            </a:r>
            <a:r>
              <a:rPr lang="en-US" dirty="0" err="1"/>
              <a:t>CreditScore</a:t>
            </a:r>
            <a:r>
              <a:rPr lang="en-US" dirty="0"/>
              <a:t>, Age, Tenure, Balance, </a:t>
            </a:r>
            <a:r>
              <a:rPr lang="en-US" dirty="0" err="1"/>
              <a:t>EstimatedSalary</a:t>
            </a:r>
            <a:r>
              <a:rPr lang="en-US" dirty="0"/>
              <a:t>, </a:t>
            </a:r>
            <a:r>
              <a:rPr lang="en-US" dirty="0" err="1"/>
              <a:t>NumOfProducts</a:t>
            </a:r>
            <a:r>
              <a:rPr lang="en-US" dirty="0"/>
              <a:t>) </a:t>
            </a:r>
            <a:endParaRPr lang="ru-RU" dirty="0"/>
          </a:p>
          <a:p>
            <a:pPr lvl="1"/>
            <a:r>
              <a:rPr lang="en-US" dirty="0"/>
              <a:t>2 </a:t>
            </a:r>
            <a:r>
              <a:rPr lang="ru-RU" dirty="0"/>
              <a:t>категориальные фичи (</a:t>
            </a:r>
            <a:r>
              <a:rPr lang="en-US" dirty="0"/>
              <a:t>Geography, Gender)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09E559-7F69-48A2-8E35-DEFC8F38F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82" y="4839192"/>
            <a:ext cx="10341236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48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3B699-3A21-4392-A2AA-C3867C9F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44" y="35086"/>
            <a:ext cx="10340067" cy="633251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/>
              <a:t>Выбросы</a:t>
            </a:r>
            <a:r>
              <a:rPr lang="en-US" sz="4800" b="1" dirty="0"/>
              <a:t> </a:t>
            </a:r>
            <a:r>
              <a:rPr lang="ru-RU" sz="4800" b="1" dirty="0"/>
              <a:t>и распределения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16D5D6-A88A-4E4D-89C8-667BFBCF9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744764"/>
            <a:ext cx="5157787" cy="511531"/>
          </a:xfrm>
        </p:spPr>
        <p:txBody>
          <a:bodyPr/>
          <a:lstStyle/>
          <a:p>
            <a:pPr algn="ctr"/>
            <a:r>
              <a:rPr lang="ru-RU" dirty="0"/>
              <a:t>Выбросы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CD252D7-8621-4532-B592-3ED9BC0951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67241" y="1404062"/>
            <a:ext cx="4906387" cy="3684588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3AD9CA01-3E2C-4054-8DFB-8E0DC13EF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744764"/>
            <a:ext cx="5183188" cy="511531"/>
          </a:xfrm>
        </p:spPr>
        <p:txBody>
          <a:bodyPr/>
          <a:lstStyle/>
          <a:p>
            <a:pPr algn="ctr"/>
            <a:r>
              <a:rPr lang="ru-RU" dirty="0"/>
              <a:t>Распределение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0F8BA0E-5203-4E6A-BBA3-30B4E4BFFFA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220281" y="1404062"/>
            <a:ext cx="5087025" cy="3684587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5AB2F9F-A49E-4265-9D7A-C26397E6F0A5}"/>
              </a:ext>
            </a:extLst>
          </p:cNvPr>
          <p:cNvSpPr/>
          <p:nvPr/>
        </p:nvSpPr>
        <p:spPr>
          <a:xfrm>
            <a:off x="967241" y="5320998"/>
            <a:ext cx="1034006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0" dirty="0" err="1">
                <a:solidFill>
                  <a:srgbClr val="000000"/>
                </a:solidFill>
                <a:effectLst/>
              </a:rPr>
              <a:t>CreditScore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 имеет распределение близкое к нормальному</a:t>
            </a:r>
            <a:r>
              <a:rPr lang="en-US" sz="1600" b="0" i="0" dirty="0">
                <a:solidFill>
                  <a:srgbClr val="000000"/>
                </a:solidFill>
                <a:effectLst/>
              </a:rPr>
              <a:t>;</a:t>
            </a:r>
            <a:endParaRPr lang="ru-RU" sz="1600" b="0" i="0" dirty="0">
              <a:solidFill>
                <a:srgbClr val="000000"/>
              </a:solidFill>
              <a:effectLst/>
            </a:endParaRPr>
          </a:p>
          <a:p>
            <a:r>
              <a:rPr lang="ru-RU" sz="1600" b="1" i="0" dirty="0" err="1">
                <a:solidFill>
                  <a:srgbClr val="000000"/>
                </a:solidFill>
                <a:effectLst/>
              </a:rPr>
              <a:t>Age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 имеет выраженный правый хвост, тому же есть выбросы</a:t>
            </a:r>
            <a:r>
              <a:rPr lang="en-US" sz="1600" b="0" i="0" dirty="0">
                <a:solidFill>
                  <a:srgbClr val="000000"/>
                </a:solidFill>
                <a:effectLst/>
              </a:rPr>
              <a:t>;</a:t>
            </a:r>
            <a:endParaRPr lang="ru-RU" sz="1600" b="0" i="0" dirty="0">
              <a:solidFill>
                <a:srgbClr val="000000"/>
              </a:solidFill>
              <a:effectLst/>
            </a:endParaRPr>
          </a:p>
          <a:p>
            <a:r>
              <a:rPr lang="ru-RU" sz="1600" b="1" i="0" dirty="0" err="1">
                <a:solidFill>
                  <a:srgbClr val="000000"/>
                </a:solidFill>
                <a:effectLst/>
              </a:rPr>
              <a:t>Tenure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 - почти равномерное распределение. Дискретная величина</a:t>
            </a:r>
            <a:r>
              <a:rPr lang="en-US" sz="1600" b="0" i="0" dirty="0">
                <a:solidFill>
                  <a:srgbClr val="000000"/>
                </a:solidFill>
                <a:effectLst/>
              </a:rPr>
              <a:t>;</a:t>
            </a:r>
            <a:endParaRPr lang="ru-RU" sz="1600" b="0" i="0" dirty="0">
              <a:solidFill>
                <a:srgbClr val="000000"/>
              </a:solidFill>
              <a:effectLst/>
            </a:endParaRPr>
          </a:p>
          <a:p>
            <a:r>
              <a:rPr lang="ru-RU" sz="1600" b="1" i="0" dirty="0" err="1">
                <a:solidFill>
                  <a:srgbClr val="000000"/>
                </a:solidFill>
                <a:effectLst/>
              </a:rPr>
              <a:t>Balance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 - необходимо создать бинарную фичу </a:t>
            </a:r>
            <a:r>
              <a:rPr lang="ru-RU" sz="1600" b="1" i="0" dirty="0">
                <a:solidFill>
                  <a:srgbClr val="000000"/>
                </a:solidFill>
                <a:effectLst/>
              </a:rPr>
              <a:t>"</a:t>
            </a:r>
            <a:r>
              <a:rPr lang="ru-RU" sz="1600" b="1" i="0" dirty="0" err="1">
                <a:solidFill>
                  <a:srgbClr val="000000"/>
                </a:solidFill>
                <a:effectLst/>
              </a:rPr>
              <a:t>HasBalance</a:t>
            </a:r>
            <a:r>
              <a:rPr lang="ru-RU" sz="1600" b="1" i="0" dirty="0">
                <a:solidFill>
                  <a:srgbClr val="000000"/>
                </a:solidFill>
                <a:effectLst/>
              </a:rPr>
              <a:t>"</a:t>
            </a:r>
            <a:r>
              <a:rPr lang="ru-RU" sz="1600" i="0" dirty="0">
                <a:solidFill>
                  <a:srgbClr val="000000"/>
                </a:solidFill>
                <a:effectLst/>
              </a:rPr>
              <a:t>, 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которая покажет, нулевой баланс или нет </a:t>
            </a:r>
          </a:p>
          <a:p>
            <a:r>
              <a:rPr lang="ru-RU" sz="1600" b="1" i="0" dirty="0" err="1">
                <a:solidFill>
                  <a:srgbClr val="000000"/>
                </a:solidFill>
                <a:effectLst/>
              </a:rPr>
              <a:t>EstimatedSalary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 - оставить как есть, выбросов нет, распределение не сильно скошено влево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88681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8592B-1B65-4FCB-A59D-FAF352C5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8"/>
            <a:ext cx="10515600" cy="754548"/>
          </a:xfrm>
        </p:spPr>
        <p:txBody>
          <a:bodyPr/>
          <a:lstStyle/>
          <a:p>
            <a:pPr algn="ctr"/>
            <a:r>
              <a:rPr lang="ru-RU" b="1" dirty="0" err="1"/>
              <a:t>Мультиколлинеарность</a:t>
            </a:r>
            <a:endParaRPr lang="ru-RU" b="1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67FA5FA-1451-4F9F-B5F2-DF535991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155" y="1439943"/>
            <a:ext cx="4937449" cy="4351338"/>
          </a:xfrm>
        </p:spPr>
        <p:txBody>
          <a:bodyPr/>
          <a:lstStyle/>
          <a:p>
            <a:r>
              <a:rPr lang="ru-RU" dirty="0"/>
              <a:t>Ярко выраженных корреляций межу фичами нет. Есть умеренная корреляция между: </a:t>
            </a:r>
            <a:endParaRPr lang="en-US" dirty="0"/>
          </a:p>
          <a:p>
            <a:r>
              <a:rPr lang="ru-RU" dirty="0" err="1"/>
              <a:t>Geography</a:t>
            </a:r>
            <a:r>
              <a:rPr lang="ru-RU" dirty="0"/>
              <a:t> и </a:t>
            </a:r>
            <a:r>
              <a:rPr lang="ru-RU" dirty="0" err="1"/>
              <a:t>Balance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 err="1"/>
              <a:t>NumOfProducts</a:t>
            </a:r>
            <a:r>
              <a:rPr lang="ru-RU" dirty="0"/>
              <a:t> и </a:t>
            </a:r>
            <a:r>
              <a:rPr lang="ru-RU" dirty="0" err="1"/>
              <a:t>Balance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891A53-EE90-43C2-B0E6-40CDD8032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662" y="839756"/>
            <a:ext cx="6229885" cy="562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1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C0853-A601-4F55-9A5F-F2508C9B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440"/>
            <a:ext cx="10515600" cy="586597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/>
              <a:t>Предикторы и </a:t>
            </a:r>
            <a:r>
              <a:rPr lang="ru-RU" sz="4800" b="1" dirty="0" err="1"/>
              <a:t>таргет</a:t>
            </a:r>
            <a:endParaRPr lang="ru-RU" sz="48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8F974D-CCD4-402C-9D52-5F6CFA9B6120}"/>
              </a:ext>
            </a:extLst>
          </p:cNvPr>
          <p:cNvSpPr/>
          <p:nvPr/>
        </p:nvSpPr>
        <p:spPr>
          <a:xfrm>
            <a:off x="6727371" y="5141167"/>
            <a:ext cx="4553339" cy="48020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ACC2842-E4B1-4A6B-82E4-33C98BC28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90" y="1236632"/>
            <a:ext cx="436828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3 фичи, которые обладают умеренной корреляцией с </a:t>
            </a:r>
            <a:r>
              <a:rPr lang="ru-RU" dirty="0" err="1"/>
              <a:t>таргеом</a:t>
            </a:r>
            <a:r>
              <a:rPr lang="ru-RU" dirty="0"/>
              <a:t>: </a:t>
            </a:r>
            <a:endParaRPr lang="en-US" dirty="0"/>
          </a:p>
          <a:p>
            <a:r>
              <a:rPr lang="ru-RU" dirty="0" err="1"/>
              <a:t>Age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 err="1"/>
              <a:t>NumOfProducts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 err="1"/>
              <a:t>IsActiveMember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F13C11-A191-4F6B-94AC-125526BE1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662" y="839756"/>
            <a:ext cx="6229885" cy="562400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896232-C758-4192-9252-B9794A55F5E9}"/>
              </a:ext>
            </a:extLst>
          </p:cNvPr>
          <p:cNvSpPr/>
          <p:nvPr/>
        </p:nvSpPr>
        <p:spPr>
          <a:xfrm>
            <a:off x="6096000" y="5273336"/>
            <a:ext cx="5018843" cy="480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828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3622B-6E33-4CEC-A1D5-0D1A73E5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4"/>
            <a:ext cx="10515600" cy="754548"/>
          </a:xfrm>
        </p:spPr>
        <p:txBody>
          <a:bodyPr/>
          <a:lstStyle/>
          <a:p>
            <a:pPr algn="ctr"/>
            <a:r>
              <a:rPr lang="ru-RU" b="1" dirty="0"/>
              <a:t>Баланс классов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76FF75-819F-4C4D-82F9-081DFB97E8DC}"/>
              </a:ext>
            </a:extLst>
          </p:cNvPr>
          <p:cNvSpPr/>
          <p:nvPr/>
        </p:nvSpPr>
        <p:spPr>
          <a:xfrm>
            <a:off x="360784" y="2075976"/>
            <a:ext cx="47523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Отношение классов примерно 1 к 5 (дисбаланс есть, но умеренный) </a:t>
            </a:r>
            <a:endParaRPr lang="en-US" dirty="0">
              <a:solidFill>
                <a:srgbClr val="000000"/>
              </a:solidFill>
              <a:latin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Можно ограничиться встроенными в модели параметрами для работы с дисбалансом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/>
              </a:rPr>
              <a:t>class_weight</a:t>
            </a:r>
            <a:r>
              <a:rPr lang="ru-RU" b="0" i="0" dirty="0">
                <a:solidFill>
                  <a:srgbClr val="000000"/>
                </a:solidFill>
                <a:effectLst/>
                <a:latin typeface="Roboto"/>
              </a:rPr>
              <a:t>)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73A483-D6FF-4D4D-A83D-37624CB03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762" y="1348960"/>
            <a:ext cx="6293454" cy="416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8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48D87-EED6-4EEF-926A-04C642201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85206"/>
            <a:ext cx="10772775" cy="567937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/>
              <a:t>Итоги </a:t>
            </a:r>
            <a:r>
              <a:rPr lang="en-US" sz="4800" b="1" dirty="0"/>
              <a:t>EDA</a:t>
            </a:r>
            <a:endParaRPr lang="ru-RU" sz="48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AA5C2-CDE0-42CA-9757-E7FA069F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752994"/>
            <a:ext cx="1077277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4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C4459-840F-4233-BE50-AC52AC0A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33"/>
            <a:ext cx="10515600" cy="735285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Выбор ключевой метрики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5147436-ABBA-4286-97E8-803C96E8C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010" y="4510645"/>
            <a:ext cx="8672311" cy="2631233"/>
          </a:xfrm>
        </p:spPr>
        <p:txBody>
          <a:bodyPr/>
          <a:lstStyle/>
          <a:p>
            <a:r>
              <a:rPr lang="ru-RU" dirty="0"/>
              <a:t>Остановимся на </a:t>
            </a:r>
            <a:r>
              <a:rPr lang="ru-RU" dirty="0" err="1"/>
              <a:t>recall</a:t>
            </a:r>
            <a:r>
              <a:rPr lang="ru-RU" dirty="0"/>
              <a:t>, так как хотим видеть большинство </a:t>
            </a:r>
            <a:r>
              <a:rPr lang="ru-RU" dirty="0" err="1"/>
              <a:t>отточных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2F47B4-F7C9-48B3-B660-1957ABA39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42" y="2204029"/>
            <a:ext cx="11476715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6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DABC6-00B8-4B22-908F-D3E0FE13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97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300" b="1" dirty="0" err="1"/>
              <a:t>Бейзлайн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B76C2E-1260-43E4-8A19-22C0F59FC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694" y="966298"/>
            <a:ext cx="11616612" cy="3101849"/>
          </a:xfrm>
        </p:spPr>
        <p:txBody>
          <a:bodyPr/>
          <a:lstStyle/>
          <a:p>
            <a:r>
              <a:rPr lang="ru-RU" dirty="0"/>
              <a:t>В качестве </a:t>
            </a:r>
            <a:r>
              <a:rPr lang="ru-RU" dirty="0" err="1"/>
              <a:t>бейзлайна</a:t>
            </a:r>
            <a:r>
              <a:rPr lang="ru-RU" dirty="0"/>
              <a:t> выбрали модель логистической регрессии. Метрика </a:t>
            </a:r>
            <a:r>
              <a:rPr lang="en-US" dirty="0"/>
              <a:t>recall </a:t>
            </a:r>
            <a:r>
              <a:rPr lang="ru-RU" dirty="0"/>
              <a:t>на тесте равна 0.79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3F0DCDF-AEE4-4B80-A3FC-918A0FBC6000}"/>
              </a:ext>
            </a:extLst>
          </p:cNvPr>
          <p:cNvSpPr txBox="1">
            <a:spLocks/>
          </p:cNvSpPr>
          <p:nvPr/>
        </p:nvSpPr>
        <p:spPr>
          <a:xfrm>
            <a:off x="287694" y="966299"/>
            <a:ext cx="3733800" cy="3792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941CC55-9250-46D8-965A-A8780EC2B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1" y="1976549"/>
            <a:ext cx="5801629" cy="391515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F1874A-ACAE-437B-8316-E67BD9B09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48" y="1976549"/>
            <a:ext cx="4000505" cy="391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31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6DCA4-E3D5-48CD-9BC3-1A35A15B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57"/>
            <a:ext cx="10515600" cy="8852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Обучение моделей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032167-48A8-40E7-A493-B3F9215D9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816" y="908967"/>
            <a:ext cx="8718140" cy="1731595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После </a:t>
            </a:r>
            <a:r>
              <a:rPr lang="ru-RU" dirty="0" err="1"/>
              <a:t>бейзлайна</a:t>
            </a:r>
            <a:r>
              <a:rPr lang="ru-RU" dirty="0"/>
              <a:t> было построено несколько моделей и подобраны </a:t>
            </a:r>
            <a:r>
              <a:rPr lang="ru-RU" dirty="0" err="1"/>
              <a:t>гиперпараметры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dirty="0"/>
              <a:t>Дерево решений (метод на основе деревьев)</a:t>
            </a:r>
          </a:p>
          <a:p>
            <a:r>
              <a:rPr lang="ru-RU" dirty="0"/>
              <a:t>Случайный лес (ансамблевый метод, </a:t>
            </a:r>
            <a:r>
              <a:rPr lang="ru-RU" dirty="0" err="1"/>
              <a:t>беггинг</a:t>
            </a:r>
            <a:r>
              <a:rPr lang="ru-RU" dirty="0"/>
              <a:t>)</a:t>
            </a:r>
          </a:p>
          <a:p>
            <a:r>
              <a:rPr lang="ru-RU" dirty="0" err="1"/>
              <a:t>Катбуст</a:t>
            </a:r>
            <a:r>
              <a:rPr lang="ru-RU" dirty="0"/>
              <a:t> (ансамблевый метод, </a:t>
            </a:r>
            <a:r>
              <a:rPr lang="ru-RU" dirty="0" err="1"/>
              <a:t>бустинг</a:t>
            </a:r>
            <a:r>
              <a:rPr lang="ru-RU" dirty="0"/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A3C4A0-1657-47D4-A62C-AA5775EAD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952" y="2565154"/>
            <a:ext cx="8913868" cy="349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1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F4DDA-4457-4AD9-AB2A-A6393D34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4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Итоговая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C8560C-F8EF-4A3C-95AA-56C0314F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3147" cy="4351338"/>
          </a:xfrm>
        </p:spPr>
        <p:txBody>
          <a:bodyPr/>
          <a:lstStyle/>
          <a:p>
            <a:r>
              <a:rPr lang="ru-RU" dirty="0"/>
              <a:t>На основе сравнительной таблицы, в которой отражены ключевые метрики качества моделей, а также скорость обучения, была выбрана лучшая модель. В нашем случае - </a:t>
            </a:r>
            <a:r>
              <a:rPr lang="ru-RU" dirty="0" err="1"/>
              <a:t>катбуст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F50A74-2580-4E82-B9A7-4DB94C664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347" y="1335835"/>
            <a:ext cx="5070940" cy="41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1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84E80-853D-4720-9098-37FB4E6D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931" y="55902"/>
            <a:ext cx="10332868" cy="792518"/>
          </a:xfrm>
        </p:spPr>
        <p:txBody>
          <a:bodyPr/>
          <a:lstStyle/>
          <a:p>
            <a:pPr algn="ctr"/>
            <a:r>
              <a:rPr lang="ru-RU" b="1" dirty="0"/>
              <a:t>Важность фичей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176EC-FAB6-44F9-9943-1DC874924AD4}"/>
              </a:ext>
            </a:extLst>
          </p:cNvPr>
          <p:cNvSpPr txBox="1"/>
          <p:nvPr/>
        </p:nvSpPr>
        <p:spPr>
          <a:xfrm>
            <a:off x="1245577" y="5481831"/>
            <a:ext cx="9883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Оба метода показали наиболее важными одни и те же фичи. Так на первом месте предиктор </a:t>
            </a:r>
            <a:r>
              <a:rPr lang="ru-RU" dirty="0" err="1"/>
              <a:t>NumOfProducts</a:t>
            </a:r>
            <a:r>
              <a:rPr lang="ru-RU" dirty="0"/>
              <a:t>, на втором </a:t>
            </a:r>
            <a:r>
              <a:rPr lang="ru-RU" dirty="0" err="1"/>
              <a:t>Age</a:t>
            </a:r>
            <a:r>
              <a:rPr lang="ru-RU" dirty="0"/>
              <a:t>, третьим и четвертым по важности признаками оказались </a:t>
            </a:r>
            <a:r>
              <a:rPr lang="ru-RU" dirty="0" err="1"/>
              <a:t>Gender_Male</a:t>
            </a:r>
            <a:r>
              <a:rPr lang="ru-RU" dirty="0"/>
              <a:t> и </a:t>
            </a:r>
            <a:r>
              <a:rPr lang="ru-RU" dirty="0" err="1"/>
              <a:t>IsActiveMember</a:t>
            </a:r>
            <a:r>
              <a:rPr lang="ru-RU" dirty="0"/>
              <a:t> соответственно. </a:t>
            </a:r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66EFA4-7DB4-40A8-B4DA-79575104A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3" y="995502"/>
            <a:ext cx="5294298" cy="41921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F57C471-DCF0-455D-868B-F088EACB0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429" y="995502"/>
            <a:ext cx="5248165" cy="419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12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C5967-35D2-4183-A550-A438B2DD1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69" y="208626"/>
            <a:ext cx="10515600" cy="819790"/>
          </a:xfrm>
        </p:spPr>
        <p:txBody>
          <a:bodyPr/>
          <a:lstStyle/>
          <a:p>
            <a:pPr algn="ctr"/>
            <a:r>
              <a:rPr lang="ru-RU" b="1" dirty="0"/>
              <a:t>Итоговые метрики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A915A-E7E5-43B4-9A1F-097734BB4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" y="3773009"/>
            <a:ext cx="5860079" cy="2876365"/>
          </a:xfrm>
        </p:spPr>
        <p:txBody>
          <a:bodyPr>
            <a:normAutofit/>
          </a:bodyPr>
          <a:lstStyle/>
          <a:p>
            <a:r>
              <a:rPr lang="ru-RU" dirty="0"/>
              <a:t>Убрали неинформативные фичи, переобучили модель с новым подбором </a:t>
            </a:r>
            <a:r>
              <a:rPr lang="ru-RU" dirty="0" err="1"/>
              <a:t>гиперпараметров</a:t>
            </a:r>
            <a:r>
              <a:rPr lang="ru-RU" dirty="0"/>
              <a:t>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2EC0C5-BC5D-4EAD-84C2-B5A32423B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7" t="537" r="3462"/>
          <a:stretch/>
        </p:blipFill>
        <p:spPr>
          <a:xfrm>
            <a:off x="225512" y="1159591"/>
            <a:ext cx="5775257" cy="21729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EAADA0-8767-4066-B5B9-335898282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9591"/>
            <a:ext cx="6003192" cy="47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085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430</Words>
  <Application>Microsoft Macintosh PowerPoint</Application>
  <PresentationFormat>Широкоэкранный</PresentationFormat>
  <Paragraphs>68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Roboto</vt:lpstr>
      <vt:lpstr>Тема Office</vt:lpstr>
      <vt:lpstr>Кейс 1. Прогнозирование оттока клиентов банка</vt:lpstr>
      <vt:lpstr>Содержание</vt:lpstr>
      <vt:lpstr>Цели и задачи</vt:lpstr>
      <vt:lpstr>Фичи</vt:lpstr>
      <vt:lpstr>Выбросы и распределения</vt:lpstr>
      <vt:lpstr>Мультиколлинеарность</vt:lpstr>
      <vt:lpstr>Предикторы и таргет</vt:lpstr>
      <vt:lpstr>Баланс классов</vt:lpstr>
      <vt:lpstr>Итоги EDA</vt:lpstr>
      <vt:lpstr>Выбор ключевой метрики</vt:lpstr>
      <vt:lpstr>Бейзлайн</vt:lpstr>
      <vt:lpstr>Обучение моделей</vt:lpstr>
      <vt:lpstr>Итоговая модель</vt:lpstr>
      <vt:lpstr>Важность фичей</vt:lpstr>
      <vt:lpstr>Итоговые метрики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Кейс 1. Прогнозирование оттока клиентов банка</dc:title>
  <dc:creator>Мартыненко Алексей Сергеевич</dc:creator>
  <cp:lastModifiedBy>153</cp:lastModifiedBy>
  <cp:revision>36</cp:revision>
  <dcterms:created xsi:type="dcterms:W3CDTF">2025-12-22T08:50:33Z</dcterms:created>
  <dcterms:modified xsi:type="dcterms:W3CDTF">2025-12-24T19:23:39Z</dcterms:modified>
</cp:coreProperties>
</file>